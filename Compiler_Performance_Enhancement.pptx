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47"/>
  </p:normalViewPr>
  <p:slideViewPr>
    <p:cSldViewPr snapToGrid="0" snapToObjects="1">
      <p:cViewPr varScale="1">
        <p:scale>
          <a:sx n="137" d="100"/>
          <a:sy n="137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980D-89F2-614D-BF05-29A516D3EA1B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20ED3-A967-E642-A68C-5A2D9E22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57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20ED3-A967-E642-A68C-5A2D9E221A4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5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CST-405 Principles of Compiler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Compiler Performance Enhancement</a:t>
            </a:r>
          </a:p>
          <a:p>
            <a:r>
              <a:rPr dirty="0"/>
              <a:t>Optimizing Every Phase of Compilation</a:t>
            </a:r>
          </a:p>
          <a:p>
            <a:endParaRPr dirty="0"/>
          </a:p>
          <a:p>
            <a:r>
              <a:rPr dirty="0"/>
              <a:t>Class Activity &amp; Implementation</a:t>
            </a:r>
            <a:r>
              <a:rPr lang="en-US" dirty="0"/>
              <a:t> </a:t>
            </a:r>
            <a:r>
              <a:rPr dirty="0"/>
              <a:t>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What We'll Optimize Today:</a:t>
            </a:r>
          </a:p>
          <a:p>
            <a:r>
              <a:rPr b="1" dirty="0"/>
              <a:t>Symbol Table</a:t>
            </a:r>
            <a:r>
              <a:rPr dirty="0"/>
              <a:t>: From O(n) to O(1) lookup</a:t>
            </a:r>
          </a:p>
          <a:p>
            <a:r>
              <a:rPr b="1" dirty="0"/>
              <a:t>Memory Management</a:t>
            </a:r>
            <a:r>
              <a:rPr dirty="0"/>
              <a:t>: Pool allocation for AST nodes</a:t>
            </a:r>
          </a:p>
          <a:p>
            <a:r>
              <a:rPr b="1" dirty="0"/>
              <a:t>TAC Generation</a:t>
            </a:r>
            <a:r>
              <a:rPr dirty="0"/>
              <a:t>: Peephole optimization patterns</a:t>
            </a:r>
          </a:p>
          <a:p>
            <a:r>
              <a:rPr b="1" dirty="0"/>
              <a:t>Lexical Analysis</a:t>
            </a:r>
            <a:r>
              <a:rPr dirty="0"/>
              <a:t>: Buffer optimization</a:t>
            </a:r>
          </a:p>
          <a:p>
            <a:r>
              <a:rPr b="1" dirty="0"/>
              <a:t>Code Generation</a:t>
            </a:r>
            <a:r>
              <a:rPr dirty="0"/>
              <a:t>: Register allocation</a:t>
            </a:r>
          </a:p>
          <a:p>
            <a:r>
              <a:rPr b="1" dirty="0"/>
              <a:t>String Management</a:t>
            </a:r>
            <a:r>
              <a:rPr dirty="0"/>
              <a:t>: String interning</a:t>
            </a:r>
          </a:p>
          <a:p>
            <a:endParaRPr dirty="0"/>
          </a:p>
          <a:p>
            <a:r>
              <a:rPr b="1" dirty="0"/>
              <a:t>Goal</a:t>
            </a:r>
            <a:r>
              <a:rPr dirty="0"/>
              <a:t>: 30-50% overall performance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Compiler Performance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u="sng" dirty="0"/>
              <a:t>Development Impact</a:t>
            </a:r>
            <a:r>
              <a:rPr dirty="0"/>
              <a:t>:</a:t>
            </a:r>
          </a:p>
          <a:p>
            <a:r>
              <a:rPr b="1" dirty="0"/>
              <a:t>Small Project</a:t>
            </a:r>
            <a:r>
              <a:rPr dirty="0"/>
              <a:t>: 2s → 1s (50% faster)</a:t>
            </a:r>
          </a:p>
          <a:p>
            <a:r>
              <a:rPr b="1" dirty="0"/>
              <a:t>Medium Project</a:t>
            </a:r>
            <a:r>
              <a:rPr dirty="0"/>
              <a:t>: 30s → 15s (50% faster)</a:t>
            </a:r>
          </a:p>
          <a:p>
            <a:r>
              <a:rPr b="1" dirty="0"/>
              <a:t>Large Project</a:t>
            </a:r>
            <a:r>
              <a:rPr dirty="0"/>
              <a:t>: 5min → 2.5min (50% faster)</a:t>
            </a:r>
          </a:p>
          <a:p>
            <a:endParaRPr dirty="0"/>
          </a:p>
          <a:p>
            <a:pPr marL="0" indent="0">
              <a:buNone/>
            </a:pPr>
            <a:r>
              <a:rPr b="1" u="sng" dirty="0"/>
              <a:t>Benefits</a:t>
            </a:r>
            <a:r>
              <a:rPr dirty="0"/>
              <a:t>:</a:t>
            </a:r>
          </a:p>
          <a:p>
            <a:r>
              <a:rPr b="1" dirty="0"/>
              <a:t>Developer Productivity</a:t>
            </a:r>
            <a:r>
              <a:rPr dirty="0"/>
              <a:t>: Faster compile-test cycles</a:t>
            </a:r>
          </a:p>
          <a:p>
            <a:r>
              <a:rPr b="1" dirty="0"/>
              <a:t>CI/CD Pipelines</a:t>
            </a:r>
            <a:r>
              <a:rPr dirty="0"/>
              <a:t>: Reduced build times</a:t>
            </a:r>
          </a:p>
          <a:p>
            <a:r>
              <a:rPr b="1" dirty="0"/>
              <a:t>Resource Usage</a:t>
            </a:r>
            <a:r>
              <a:rPr dirty="0"/>
              <a:t>: Lower memory footprint</a:t>
            </a:r>
          </a:p>
          <a:p>
            <a:r>
              <a:rPr b="1" dirty="0"/>
              <a:t>Energy Efficiency</a:t>
            </a:r>
            <a:r>
              <a:rPr dirty="0"/>
              <a:t>: Less CPU time = less power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Performance Measurement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19469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dirty="0"/>
              <a:t>typedef struct {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double </a:t>
            </a:r>
            <a:r>
              <a:rPr dirty="0" err="1"/>
              <a:t>cpu_time</a:t>
            </a:r>
            <a:r>
              <a:rPr dirty="0"/>
              <a:t>;      // Processor time used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double </a:t>
            </a:r>
            <a:r>
              <a:rPr dirty="0" err="1"/>
              <a:t>wall_time</a:t>
            </a:r>
            <a:r>
              <a:rPr dirty="0"/>
              <a:t>;     // Real-world elapsed time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long </a:t>
            </a:r>
            <a:r>
              <a:rPr dirty="0" err="1"/>
              <a:t>memory_usage</a:t>
            </a:r>
            <a:r>
              <a:rPr dirty="0"/>
              <a:t>;    // Memory consumed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long </a:t>
            </a:r>
            <a:r>
              <a:rPr dirty="0" err="1"/>
              <a:t>peak_memory</a:t>
            </a:r>
            <a:r>
              <a:rPr dirty="0"/>
              <a:t>;     // Maximum memory used</a:t>
            </a:r>
          </a:p>
          <a:p>
            <a:pPr>
              <a:defRPr sz="1200">
                <a:latin typeface="Consolas"/>
              </a:defRPr>
            </a:pPr>
            <a:r>
              <a:rPr dirty="0"/>
              <a:t>} </a:t>
            </a:r>
            <a:r>
              <a:rPr dirty="0" err="1"/>
              <a:t>BenchmarkResult</a:t>
            </a:r>
            <a:r>
              <a:rPr dirty="0"/>
              <a:t>;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// Platform-specific measurement</a:t>
            </a:r>
          </a:p>
          <a:p>
            <a:pPr>
              <a:defRPr sz="1200">
                <a:latin typeface="Consolas"/>
              </a:defRPr>
            </a:pPr>
            <a:r>
              <a:rPr dirty="0"/>
              <a:t>#ifdef __APPLE__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// Use Mach kernel APIs</a:t>
            </a:r>
          </a:p>
          <a:p>
            <a:pPr>
              <a:defRPr sz="1200">
                <a:latin typeface="Consolas"/>
              </a:defRPr>
            </a:pPr>
            <a:r>
              <a:rPr dirty="0"/>
              <a:t>#else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// Use /proc filesystem</a:t>
            </a:r>
          </a:p>
          <a:p>
            <a:pPr>
              <a:defRPr sz="1200">
                <a:latin typeface="Consolas"/>
              </a:defRPr>
            </a:pPr>
            <a:r>
              <a:rPr dirty="0"/>
              <a:t>#endif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3284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b="1" dirty="0"/>
              <a:t>Key metrics to track for each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Symbol Table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555" y="1778414"/>
            <a:ext cx="3704347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❌ Current: Linear Search</a:t>
            </a:r>
          </a:p>
          <a:p>
            <a:endParaRPr dirty="0"/>
          </a:p>
          <a:p>
            <a:r>
              <a:rPr dirty="0"/>
              <a:t>for(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count;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r>
              <a:rPr dirty="0"/>
              <a:t>    if(</a:t>
            </a:r>
            <a:r>
              <a:rPr dirty="0" err="1"/>
              <a:t>strcmp</a:t>
            </a:r>
            <a:r>
              <a:rPr dirty="0"/>
              <a:t>(vars[</a:t>
            </a:r>
            <a:r>
              <a:rPr dirty="0" err="1"/>
              <a:t>i</a:t>
            </a:r>
            <a:r>
              <a:rPr dirty="0"/>
              <a:t>].name, name) == 0)</a:t>
            </a:r>
          </a:p>
          <a:p>
            <a:r>
              <a:rPr dirty="0"/>
              <a:t>        return vars[</a:t>
            </a:r>
            <a:r>
              <a:rPr dirty="0" err="1"/>
              <a:t>i</a:t>
            </a:r>
            <a:r>
              <a:rPr dirty="0"/>
              <a:t>].offset;</a:t>
            </a:r>
          </a:p>
          <a:p>
            <a:r>
              <a:rPr dirty="0"/>
              <a:t>}</a:t>
            </a:r>
          </a:p>
          <a:p>
            <a:r>
              <a:rPr dirty="0"/>
              <a:t>// O(n) complexity - gets slower with </a:t>
            </a:r>
            <a:endParaRPr lang="en-US" dirty="0"/>
          </a:p>
          <a:p>
            <a:r>
              <a:rPr lang="en-US" dirty="0"/>
              <a:t>// </a:t>
            </a:r>
            <a:r>
              <a:rPr dirty="0"/>
              <a:t>more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778414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✅ Solution: Hash Table</a:t>
            </a:r>
          </a:p>
          <a:p>
            <a:endParaRPr dirty="0"/>
          </a:p>
          <a:p>
            <a:r>
              <a:rPr dirty="0"/>
              <a:t>unsigned int h = hash(name);</a:t>
            </a:r>
          </a:p>
          <a:p>
            <a:r>
              <a:rPr dirty="0" err="1"/>
              <a:t>SymbolNode</a:t>
            </a:r>
            <a:r>
              <a:rPr dirty="0"/>
              <a:t>* node = buckets[h];</a:t>
            </a:r>
          </a:p>
          <a:p>
            <a:r>
              <a:rPr dirty="0"/>
              <a:t>while(node) {</a:t>
            </a:r>
          </a:p>
          <a:p>
            <a:r>
              <a:rPr dirty="0"/>
              <a:t>    if(</a:t>
            </a:r>
            <a:r>
              <a:rPr dirty="0" err="1"/>
              <a:t>strcmp</a:t>
            </a:r>
            <a:r>
              <a:rPr dirty="0"/>
              <a:t>(node-&gt;name, name) == 0)</a:t>
            </a:r>
          </a:p>
          <a:p>
            <a:r>
              <a:rPr dirty="0"/>
              <a:t>        return node-&gt;offset;</a:t>
            </a:r>
          </a:p>
          <a:p>
            <a:r>
              <a:rPr dirty="0"/>
              <a:t>    node = node-&gt;next;</a:t>
            </a:r>
          </a:p>
          <a:p>
            <a:r>
              <a:rPr dirty="0"/>
              <a:t>}</a:t>
            </a:r>
          </a:p>
          <a:p>
            <a:r>
              <a:rPr dirty="0"/>
              <a:t>// O(1) average complexity - constant time!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Implementing a Good Hash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2694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dirty="0"/>
              <a:t>// DJB2 Hash Algorithm</a:t>
            </a:r>
          </a:p>
          <a:p>
            <a:pPr>
              <a:defRPr sz="1200">
                <a:latin typeface="Consolas"/>
              </a:defRPr>
            </a:pPr>
            <a:r>
              <a:rPr dirty="0"/>
              <a:t>unsigned int hash(const char* str) {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unsigned int hash = 5381;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int c;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    while ((c = *str++)) {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hash = ((hash &lt;&lt; 5) + hash) + c; // hash * 33 + c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}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    return hash % HASH_SIZE;  // HASH_SIZE = 211 (prime)</a:t>
            </a:r>
          </a:p>
          <a:p>
            <a:pPr>
              <a:defRPr sz="1200">
                <a:latin typeface="Consolas"/>
              </a:defRPr>
            </a:pPr>
            <a:r>
              <a:rPr dirty="0"/>
              <a:t>}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// Why this works:</a:t>
            </a:r>
          </a:p>
          <a:p>
            <a:pPr>
              <a:defRPr sz="1200">
                <a:latin typeface="Consolas"/>
              </a:defRPr>
            </a:pPr>
            <a:r>
              <a:rPr dirty="0"/>
              <a:t>// • Prime number size (211): Better distribution</a:t>
            </a:r>
          </a:p>
          <a:p>
            <a:pPr>
              <a:defRPr sz="1200">
                <a:latin typeface="Consolas"/>
              </a:defRPr>
            </a:pPr>
            <a:r>
              <a:rPr dirty="0"/>
              <a:t>// • Multiplier 33: Good bit spreading</a:t>
            </a:r>
          </a:p>
          <a:p>
            <a:pPr>
              <a:defRPr sz="1200">
                <a:latin typeface="Consolas"/>
              </a:defRPr>
            </a:pPr>
            <a:r>
              <a:rPr dirty="0"/>
              <a:t>// • Simple operations: Fast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 Table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Measured Improvements:</a:t>
            </a:r>
          </a:p>
          <a:p>
            <a:endParaRPr dirty="0"/>
          </a:p>
          <a:p>
            <a:r>
              <a:rPr dirty="0"/>
              <a:t>100 variables:</a:t>
            </a:r>
            <a:endParaRPr lang="en-US" dirty="0"/>
          </a:p>
          <a:p>
            <a:pPr lvl="1"/>
            <a:r>
              <a:rPr dirty="0"/>
              <a:t>Linear: 5ms → Hash: 1ms (5x speedup)</a:t>
            </a:r>
          </a:p>
          <a:p>
            <a:endParaRPr dirty="0"/>
          </a:p>
          <a:p>
            <a:r>
              <a:rPr dirty="0"/>
              <a:t>500 variables:</a:t>
            </a:r>
            <a:endParaRPr lang="en-US" dirty="0"/>
          </a:p>
          <a:p>
            <a:pPr lvl="1"/>
            <a:r>
              <a:rPr dirty="0"/>
              <a:t>Linear: 125ms → Hash: 2ms (62x speedup)</a:t>
            </a:r>
          </a:p>
          <a:p>
            <a:endParaRPr dirty="0"/>
          </a:p>
          <a:p>
            <a:r>
              <a:rPr dirty="0"/>
              <a:t>1000 variables:</a:t>
            </a:r>
            <a:endParaRPr lang="en-US" dirty="0"/>
          </a:p>
          <a:p>
            <a:pPr lvl="1"/>
            <a:r>
              <a:rPr dirty="0"/>
              <a:t>Linear: 500ms → Hash: 3ms (166x speedup)</a:t>
            </a:r>
          </a:p>
          <a:p>
            <a:endParaRPr dirty="0"/>
          </a:p>
          <a:p>
            <a:r>
              <a:rPr b="1" dirty="0"/>
              <a:t>Key Insight</a:t>
            </a:r>
            <a:r>
              <a:rPr dirty="0"/>
              <a:t>: </a:t>
            </a:r>
            <a:r>
              <a:rPr i="1" dirty="0"/>
              <a:t>Performance gap widens dramatically with scale!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Memory Pool for AST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555" y="1787745"/>
            <a:ext cx="4271939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❌ Individual Allocations</a:t>
            </a:r>
          </a:p>
          <a:p>
            <a:endParaRPr dirty="0"/>
          </a:p>
          <a:p>
            <a:r>
              <a:rPr dirty="0"/>
              <a:t>// Each node = separate malloc</a:t>
            </a:r>
          </a:p>
          <a:p>
            <a:r>
              <a:rPr dirty="0" err="1"/>
              <a:t>ASTNode</a:t>
            </a:r>
            <a:r>
              <a:rPr dirty="0"/>
              <a:t>* node = malloc(</a:t>
            </a:r>
            <a:r>
              <a:rPr dirty="0" err="1"/>
              <a:t>sizeof</a:t>
            </a:r>
            <a:r>
              <a:rPr dirty="0"/>
              <a:t>(</a:t>
            </a:r>
            <a:r>
              <a:rPr dirty="0" err="1"/>
              <a:t>ASTNode</a:t>
            </a:r>
            <a:r>
              <a:rPr dirty="0"/>
              <a:t>));</a:t>
            </a:r>
          </a:p>
          <a:p>
            <a:endParaRPr dirty="0"/>
          </a:p>
          <a:p>
            <a:r>
              <a:rPr b="1" dirty="0"/>
              <a:t>Problems</a:t>
            </a:r>
            <a:r>
              <a:rPr dirty="0"/>
              <a:t>:</a:t>
            </a:r>
          </a:p>
          <a:p>
            <a:r>
              <a:rPr dirty="0"/>
              <a:t>• Memory fragmentation</a:t>
            </a:r>
          </a:p>
          <a:p>
            <a:r>
              <a:rPr dirty="0"/>
              <a:t>• Allocation overhead</a:t>
            </a:r>
          </a:p>
          <a:p>
            <a:r>
              <a:rPr dirty="0"/>
              <a:t>• Poor cache locality</a:t>
            </a:r>
          </a:p>
          <a:p>
            <a:r>
              <a:rPr dirty="0"/>
              <a:t>• 100ns per malloc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235" y="1787745"/>
            <a:ext cx="4477764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✅ Pool Allocation</a:t>
            </a:r>
          </a:p>
          <a:p>
            <a:endParaRPr dirty="0"/>
          </a:p>
          <a:p>
            <a:r>
              <a:rPr dirty="0"/>
              <a:t>// Allocate from pool</a:t>
            </a:r>
          </a:p>
          <a:p>
            <a:r>
              <a:rPr dirty="0" err="1"/>
              <a:t>ASTNode</a:t>
            </a:r>
            <a:r>
              <a:rPr dirty="0"/>
              <a:t>* node = </a:t>
            </a:r>
            <a:r>
              <a:rPr dirty="0" err="1"/>
              <a:t>ast_alloc</a:t>
            </a:r>
            <a:r>
              <a:rPr dirty="0"/>
              <a:t>(</a:t>
            </a:r>
            <a:r>
              <a:rPr dirty="0" err="1"/>
              <a:t>sizeof</a:t>
            </a:r>
            <a:r>
              <a:rPr dirty="0"/>
              <a:t>(</a:t>
            </a:r>
            <a:r>
              <a:rPr dirty="0" err="1"/>
              <a:t>ASTNode</a:t>
            </a:r>
            <a:r>
              <a:rPr dirty="0"/>
              <a:t>));</a:t>
            </a:r>
          </a:p>
          <a:p>
            <a:endParaRPr dirty="0"/>
          </a:p>
          <a:p>
            <a:r>
              <a:rPr b="1" dirty="0"/>
              <a:t>Benefits</a:t>
            </a:r>
            <a:r>
              <a:rPr dirty="0"/>
              <a:t>:</a:t>
            </a:r>
          </a:p>
          <a:p>
            <a:r>
              <a:rPr dirty="0"/>
              <a:t>• Contiguous memory</a:t>
            </a:r>
          </a:p>
          <a:p>
            <a:r>
              <a:rPr dirty="0"/>
              <a:t>• No fragmentation</a:t>
            </a:r>
          </a:p>
          <a:p>
            <a:r>
              <a:rPr dirty="0"/>
              <a:t>• Better cache performance</a:t>
            </a:r>
          </a:p>
          <a:p>
            <a:r>
              <a:rPr dirty="0"/>
              <a:t>• 5ns per allocation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Memory Pool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02025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#define POOL_SIZE 4096  // 4KB chunks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void* ast_alloc(size_t size) {</a:t>
            </a:r>
          </a:p>
          <a:p>
            <a:pPr>
              <a:defRPr sz="1200">
                <a:latin typeface="Consolas"/>
              </a:defRPr>
            </a:pPr>
            <a:r>
              <a:t>    // Align to 8 bytes for performance</a:t>
            </a:r>
          </a:p>
          <a:p>
            <a:pPr>
              <a:defRPr sz="1200">
                <a:latin typeface="Consolas"/>
              </a:defRPr>
            </a:pPr>
            <a:r>
              <a:t>    size = (size + 7) &amp; ~7;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    if (current_pool-&gt;used + size &gt; POOL_SIZE) {</a:t>
            </a:r>
          </a:p>
          <a:p>
            <a:pPr>
              <a:defRPr sz="1200">
                <a:latin typeface="Consolas"/>
              </a:defRPr>
            </a:pPr>
            <a:r>
              <a:t>        allocate_new_pool();</a:t>
            </a:r>
          </a:p>
          <a:p>
            <a:pPr>
              <a:defRPr sz="1200">
                <a:latin typeface="Consolas"/>
              </a:defRPr>
            </a:pPr>
            <a:r>
              <a:t>    }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    void* ptr = current_pool-&gt;memory + current_pool-&gt;used;</a:t>
            </a:r>
          </a:p>
          <a:p>
            <a:pPr>
              <a:defRPr sz="1200">
                <a:latin typeface="Consolas"/>
              </a:defRPr>
            </a:pPr>
            <a:r>
              <a:t>    current_pool-&gt;used += size;</a:t>
            </a:r>
          </a:p>
          <a:p>
            <a:pPr>
              <a:defRPr sz="1200">
                <a:latin typeface="Consolas"/>
              </a:defRPr>
            </a:pPr>
            <a:r>
              <a:t>    return ptr;</a:t>
            </a:r>
          </a:p>
          <a:p>
            <a:pPr>
              <a:defRPr sz="1200">
                <a:latin typeface="Consolas"/>
              </a:defRPr>
            </a:pPr>
            <a:r>
              <a:t>}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// Result: 30-50% memory reduction!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TAC Peephole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7704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❌ Unoptimized TAC</a:t>
            </a:r>
          </a:p>
          <a:p>
            <a:endParaRPr dirty="0"/>
          </a:p>
          <a:p>
            <a:r>
              <a:rPr dirty="0"/>
              <a:t>t0 = 5</a:t>
            </a:r>
          </a:p>
          <a:p>
            <a:r>
              <a:rPr dirty="0"/>
              <a:t>t1 = 10</a:t>
            </a:r>
          </a:p>
          <a:p>
            <a:r>
              <a:rPr dirty="0"/>
              <a:t>t2 = t0 + t1</a:t>
            </a:r>
          </a:p>
          <a:p>
            <a:r>
              <a:rPr dirty="0"/>
              <a:t>x = t2</a:t>
            </a:r>
          </a:p>
          <a:p>
            <a:endParaRPr dirty="0"/>
          </a:p>
          <a:p>
            <a:r>
              <a:rPr dirty="0"/>
              <a:t>4 instructions, 3 temporaries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927704"/>
            <a:ext cx="2864695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✅ Optimized TAC</a:t>
            </a:r>
          </a:p>
          <a:p>
            <a:endParaRPr dirty="0"/>
          </a:p>
          <a:p>
            <a:r>
              <a:rPr dirty="0"/>
              <a:t>x = 15</a:t>
            </a:r>
          </a:p>
          <a:p>
            <a:endParaRPr dirty="0"/>
          </a:p>
          <a:p>
            <a:r>
              <a:rPr dirty="0"/>
              <a:t>1 instruction, 0 temporaries!</a:t>
            </a:r>
          </a:p>
          <a:p>
            <a:endParaRPr dirty="0"/>
          </a:p>
          <a:p>
            <a:r>
              <a:rPr b="1" dirty="0"/>
              <a:t>Techniques</a:t>
            </a:r>
            <a:r>
              <a:rPr dirty="0"/>
              <a:t>:</a:t>
            </a:r>
          </a:p>
          <a:p>
            <a:r>
              <a:rPr dirty="0"/>
              <a:t>• Constant folding</a:t>
            </a:r>
          </a:p>
          <a:p>
            <a:r>
              <a:rPr dirty="0"/>
              <a:t>• Copy propagation</a:t>
            </a:r>
          </a:p>
          <a:p>
            <a:r>
              <a:rPr dirty="0"/>
              <a:t>• Dead code elimination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Implementing Peephole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6" y="2202025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dirty="0"/>
              <a:t>// Pattern: Constant Folding</a:t>
            </a:r>
          </a:p>
          <a:p>
            <a:pPr>
              <a:defRPr sz="1200">
                <a:latin typeface="Consolas"/>
              </a:defRPr>
            </a:pPr>
            <a:r>
              <a:rPr dirty="0"/>
              <a:t>if (current-&gt;op == TAC_ASSIGN &amp;&amp;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next-&gt;op == TAC_ASSIGN &amp;&amp;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</a:t>
            </a:r>
            <a:r>
              <a:rPr dirty="0" err="1"/>
              <a:t>isConstant</a:t>
            </a:r>
            <a:r>
              <a:rPr dirty="0"/>
              <a:t>(current-&gt;arg1) &amp;&amp;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</a:t>
            </a:r>
            <a:r>
              <a:rPr dirty="0" err="1"/>
              <a:t>isConstant</a:t>
            </a:r>
            <a:r>
              <a:rPr dirty="0"/>
              <a:t>(next-&gt;arg1)) {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    // Look for: t0 = 5; t1 = 10; t2 = t0 + t1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if (third-&gt;op == TAC_ADD &amp;&amp;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third-&gt;arg1 == current-&gt;result &amp;&amp;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third-&gt;arg2 == next-&gt;result) {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        // Replace with: t2 = 15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int result = </a:t>
            </a:r>
            <a:r>
              <a:rPr dirty="0" err="1"/>
              <a:t>atoi</a:t>
            </a:r>
            <a:r>
              <a:rPr dirty="0"/>
              <a:t>(current-&gt;arg1) + </a:t>
            </a:r>
            <a:r>
              <a:rPr dirty="0" err="1"/>
              <a:t>atoi</a:t>
            </a:r>
            <a:r>
              <a:rPr dirty="0"/>
              <a:t>(next-&gt;arg1);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third-&gt;op = TAC_ASSIGN;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third-&gt;arg1 = </a:t>
            </a:r>
            <a:r>
              <a:rPr dirty="0" err="1"/>
              <a:t>itoa</a:t>
            </a:r>
            <a:r>
              <a:rPr dirty="0"/>
              <a:t>(result);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        // Mark old instructions for removal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current-&gt;op = TAC_NOP;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next-&gt;op = TAC_NOP;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}</a:t>
            </a:r>
          </a:p>
          <a:p>
            <a:pPr>
              <a:defRPr sz="1200">
                <a:latin typeface="Consolas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Scanner Buffer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6" y="2118049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Increase buffer size for better I/O</a:t>
            </a:r>
          </a:p>
          <a:p>
            <a:pPr>
              <a:defRPr sz="1200">
                <a:latin typeface="Consolas"/>
              </a:defRPr>
            </a:pPr>
            <a:r>
              <a:t>#define YY_BUF_SIZE 32768  // 32KB vs default 8KB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// Why 32KB?</a:t>
            </a:r>
          </a:p>
          <a:p>
            <a:pPr>
              <a:defRPr sz="1200">
                <a:latin typeface="Consolas"/>
              </a:defRPr>
            </a:pPr>
            <a:r>
              <a:t>// • Fits in L1 cache on modern CPUs</a:t>
            </a:r>
          </a:p>
          <a:p>
            <a:pPr>
              <a:defRPr sz="1200">
                <a:latin typeface="Consolas"/>
              </a:defRPr>
            </a:pPr>
            <a:r>
              <a:t>// • Reduces system calls by 4x</a:t>
            </a:r>
          </a:p>
          <a:p>
            <a:pPr>
              <a:defRPr sz="1200">
                <a:latin typeface="Consolas"/>
              </a:defRPr>
            </a:pPr>
            <a:r>
              <a:t>// • Good balance of memory vs performance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// Keyword recognition with perfect hash</a:t>
            </a:r>
          </a:p>
          <a:p>
            <a:pPr>
              <a:defRPr sz="1200">
                <a:latin typeface="Consolas"/>
              </a:defRPr>
            </a:pPr>
            <a:r>
              <a:t>int keyword_hash(const char* str) {</a:t>
            </a:r>
          </a:p>
          <a:p>
            <a:pPr>
              <a:defRPr sz="1200">
                <a:latin typeface="Consolas"/>
              </a:defRPr>
            </a:pPr>
            <a:r>
              <a:t>    // Length + first char gives unique values</a:t>
            </a:r>
          </a:p>
          <a:p>
            <a:pPr>
              <a:defRPr sz="1200">
                <a:latin typeface="Consolas"/>
              </a:defRPr>
            </a:pPr>
            <a:r>
              <a:t>    return (strlen(str) + str[0]) % 13;</a:t>
            </a:r>
          </a:p>
          <a:p>
            <a:pPr>
              <a:defRPr sz="1200">
                <a:latin typeface="Consolas"/>
              </a:defRPr>
            </a:pPr>
            <a:r>
              <a:t>}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// Result: 10x faster keyword detection!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Register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❌ Stack-Based Code</a:t>
            </a:r>
          </a:p>
          <a:p>
            <a:endParaRPr/>
          </a:p>
          <a:p>
            <a:r>
              <a:t>lw $t0, -4($fp)   // Load x</a:t>
            </a:r>
          </a:p>
          <a:p>
            <a:r>
              <a:t>lw $t1, -8($fp)   // Load y</a:t>
            </a:r>
          </a:p>
          <a:p>
            <a:r>
              <a:t>add $t2, $t0, $t1</a:t>
            </a:r>
          </a:p>
          <a:p>
            <a:r>
              <a:t>sw $t2, -12($fp)  // Store result</a:t>
            </a:r>
          </a:p>
          <a:p>
            <a:endParaRPr/>
          </a:p>
          <a:p>
            <a:r>
              <a:t>3 memory accesses!</a:t>
            </a:r>
          </a:p>
          <a:p>
            <a:r>
              <a:t>Each access: 100-200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✅ Register-Allocated Code</a:t>
            </a:r>
          </a:p>
          <a:p>
            <a:endParaRPr/>
          </a:p>
          <a:p>
            <a:r>
              <a:t>// x in $s0, y in $s1</a:t>
            </a:r>
          </a:p>
          <a:p>
            <a:r>
              <a:t>add $s2, $s0, $s1</a:t>
            </a:r>
          </a:p>
          <a:p>
            <a:endParaRPr/>
          </a:p>
          <a:p>
            <a:r>
              <a:t>0 memory accesses!</a:t>
            </a:r>
          </a:p>
          <a:p>
            <a:r>
              <a:t>Register access: 1 cycle</a:t>
            </a:r>
          </a:p>
          <a:p>
            <a:endParaRPr/>
          </a:p>
          <a:p>
            <a:r>
              <a:t>Result: 40-60% faster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LRU Register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1436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dirty="0"/>
              <a:t>char* </a:t>
            </a:r>
            <a:r>
              <a:rPr dirty="0" err="1"/>
              <a:t>allocate_register</a:t>
            </a:r>
            <a:r>
              <a:rPr dirty="0"/>
              <a:t>(char* var) {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// 1. Check if variable already in a register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for(reg : registers) {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if(</a:t>
            </a:r>
            <a:r>
              <a:rPr dirty="0" err="1"/>
              <a:t>reg.var_name</a:t>
            </a:r>
            <a:r>
              <a:rPr dirty="0"/>
              <a:t> == var) return </a:t>
            </a:r>
            <a:r>
              <a:rPr dirty="0" err="1"/>
              <a:t>reg.reg_name</a:t>
            </a:r>
            <a:r>
              <a:rPr dirty="0"/>
              <a:t>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}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    // 2. Find free register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for(reg : registers) {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if(</a:t>
            </a:r>
            <a:r>
              <a:rPr dirty="0" err="1"/>
              <a:t>reg.is_free</a:t>
            </a:r>
            <a:r>
              <a:rPr dirty="0"/>
              <a:t>) {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reg.var_name</a:t>
            </a:r>
            <a:r>
              <a:rPr dirty="0"/>
              <a:t> = var;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    return </a:t>
            </a:r>
            <a:r>
              <a:rPr dirty="0" err="1"/>
              <a:t>reg.reg_name</a:t>
            </a:r>
            <a:r>
              <a:rPr dirty="0"/>
              <a:t>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    }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}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    // 3. Evict LRU register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Register* </a:t>
            </a:r>
            <a:r>
              <a:rPr dirty="0" err="1"/>
              <a:t>lru</a:t>
            </a:r>
            <a:r>
              <a:rPr dirty="0"/>
              <a:t> = </a:t>
            </a:r>
            <a:r>
              <a:rPr dirty="0" err="1"/>
              <a:t>find_lru_register</a:t>
            </a:r>
            <a:r>
              <a:rPr dirty="0"/>
              <a:t>();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</a:t>
            </a:r>
            <a:r>
              <a:rPr dirty="0" err="1"/>
              <a:t>spill_to_stack</a:t>
            </a:r>
            <a:r>
              <a:rPr dirty="0"/>
              <a:t>(</a:t>
            </a:r>
            <a:r>
              <a:rPr dirty="0" err="1"/>
              <a:t>lru</a:t>
            </a:r>
            <a:r>
              <a:rPr dirty="0"/>
              <a:t>);  // Save old value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</a:t>
            </a:r>
            <a:r>
              <a:rPr dirty="0" err="1"/>
              <a:t>lru.var_name</a:t>
            </a:r>
            <a:r>
              <a:rPr dirty="0"/>
              <a:t> = var;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return </a:t>
            </a:r>
            <a:r>
              <a:rPr dirty="0" err="1"/>
              <a:t>lru.reg_name</a:t>
            </a:r>
            <a:r>
              <a:rPr dirty="0"/>
              <a:t>;</a:t>
            </a:r>
          </a:p>
          <a:p>
            <a:pPr>
              <a:defRPr sz="1200">
                <a:latin typeface="Consolas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String Interning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5" y="2011362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❌ Without Interning</a:t>
            </a:r>
          </a:p>
          <a:p>
            <a:endParaRPr dirty="0"/>
          </a:p>
          <a:p>
            <a:r>
              <a:rPr dirty="0"/>
              <a:t>// "count" appears 10 times</a:t>
            </a:r>
          </a:p>
          <a:p>
            <a:r>
              <a:rPr dirty="0"/>
              <a:t>"count" → malloc(6)  // 6 bytes</a:t>
            </a:r>
          </a:p>
          <a:p>
            <a:r>
              <a:rPr dirty="0"/>
              <a:t>"count" → malloc(6)  // 6 bytes</a:t>
            </a:r>
          </a:p>
          <a:p>
            <a:r>
              <a:rPr dirty="0"/>
              <a:t>"count" → malloc(6)  // 6 bytes</a:t>
            </a:r>
          </a:p>
          <a:p>
            <a:r>
              <a:rPr dirty="0"/>
              <a:t>...</a:t>
            </a:r>
          </a:p>
          <a:p>
            <a:r>
              <a:rPr dirty="0"/>
              <a:t>Total: 60 bytes +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235" y="2011362"/>
            <a:ext cx="3853747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✅ With Interning</a:t>
            </a:r>
          </a:p>
          <a:p>
            <a:endParaRPr dirty="0"/>
          </a:p>
          <a:p>
            <a:r>
              <a:rPr dirty="0"/>
              <a:t>// All point to same string</a:t>
            </a:r>
          </a:p>
          <a:p>
            <a:r>
              <a:rPr dirty="0"/>
              <a:t>"count" → pool[0]  // 6 bytes once</a:t>
            </a:r>
          </a:p>
          <a:p>
            <a:r>
              <a:rPr dirty="0"/>
              <a:t>"count" → pool[0]  // Same pointer</a:t>
            </a:r>
          </a:p>
          <a:p>
            <a:r>
              <a:rPr dirty="0"/>
              <a:t>"count" → pool[0]  // Same pointer</a:t>
            </a:r>
          </a:p>
          <a:p>
            <a:r>
              <a:rPr dirty="0"/>
              <a:t>...</a:t>
            </a:r>
          </a:p>
          <a:p>
            <a:r>
              <a:rPr dirty="0"/>
              <a:t>Total: 6 bytes!</a:t>
            </a:r>
          </a:p>
          <a:p>
            <a:endParaRPr dirty="0"/>
          </a:p>
          <a:p>
            <a:r>
              <a:rPr b="1" dirty="0"/>
              <a:t>Benefits</a:t>
            </a:r>
            <a:r>
              <a:rPr dirty="0"/>
              <a:t>:</a:t>
            </a:r>
          </a:p>
          <a:p>
            <a:r>
              <a:rPr dirty="0"/>
              <a:t>• 20-40% memory savings</a:t>
            </a:r>
          </a:p>
          <a:p>
            <a:r>
              <a:rPr dirty="0"/>
              <a:t>• Faster comparisons (pointer equality)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Comprehensive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5" y="2258008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dirty="0"/>
              <a:t>#!/bin/bash</a:t>
            </a:r>
          </a:p>
          <a:p>
            <a:pPr>
              <a:defRPr sz="1200">
                <a:latin typeface="Consolas"/>
              </a:defRPr>
            </a:pPr>
            <a:r>
              <a:rPr dirty="0"/>
              <a:t># Generate test files of varying complexity</a:t>
            </a:r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# Small test (10 variables)</a:t>
            </a:r>
          </a:p>
          <a:p>
            <a:pPr>
              <a:defRPr sz="1200">
                <a:latin typeface="Consolas"/>
              </a:defRPr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{1..10}; do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echo "int </a:t>
            </a:r>
            <a:r>
              <a:rPr dirty="0" err="1"/>
              <a:t>var$i</a:t>
            </a:r>
            <a:r>
              <a:rPr dirty="0"/>
              <a:t>;"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echo "</a:t>
            </a:r>
            <a:r>
              <a:rPr dirty="0" err="1"/>
              <a:t>var$i</a:t>
            </a:r>
            <a:r>
              <a:rPr dirty="0"/>
              <a:t> = $</a:t>
            </a:r>
            <a:r>
              <a:rPr dirty="0" err="1"/>
              <a:t>i</a:t>
            </a:r>
            <a:r>
              <a:rPr dirty="0"/>
              <a:t>;"</a:t>
            </a:r>
          </a:p>
          <a:p>
            <a:pPr>
              <a:defRPr sz="1200">
                <a:latin typeface="Consolas"/>
              </a:defRPr>
            </a:pPr>
            <a:r>
              <a:rPr dirty="0"/>
              <a:t>done &gt; </a:t>
            </a:r>
            <a:r>
              <a:rPr dirty="0" err="1"/>
              <a:t>test_small.c</a:t>
            </a:r>
            <a:endParaRPr dirty="0"/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# Large test (1000 variables)</a:t>
            </a:r>
          </a:p>
          <a:p>
            <a:pPr>
              <a:defRPr sz="1200">
                <a:latin typeface="Consolas"/>
              </a:defRPr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{1..1000}; do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echo "int </a:t>
            </a:r>
            <a:r>
              <a:rPr dirty="0" err="1"/>
              <a:t>var$i</a:t>
            </a:r>
            <a:r>
              <a:rPr dirty="0"/>
              <a:t>;"</a:t>
            </a:r>
          </a:p>
          <a:p>
            <a:pPr>
              <a:defRPr sz="1200">
                <a:latin typeface="Consolas"/>
              </a:defRPr>
            </a:pPr>
            <a:r>
              <a:rPr dirty="0"/>
              <a:t>    echo "</a:t>
            </a:r>
            <a:r>
              <a:rPr dirty="0" err="1"/>
              <a:t>var$i</a:t>
            </a:r>
            <a:r>
              <a:rPr dirty="0"/>
              <a:t> = $</a:t>
            </a:r>
            <a:r>
              <a:rPr dirty="0" err="1"/>
              <a:t>i</a:t>
            </a:r>
            <a:r>
              <a:rPr dirty="0"/>
              <a:t>;"</a:t>
            </a:r>
          </a:p>
          <a:p>
            <a:pPr>
              <a:defRPr sz="1200">
                <a:latin typeface="Consolas"/>
              </a:defRPr>
            </a:pPr>
            <a:r>
              <a:rPr dirty="0"/>
              <a:t>done &gt; </a:t>
            </a:r>
            <a:r>
              <a:rPr dirty="0" err="1"/>
              <a:t>test_large.c</a:t>
            </a:r>
            <a:endParaRPr dirty="0"/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# Measure performance</a:t>
            </a:r>
          </a:p>
          <a:p>
            <a:pPr>
              <a:defRPr sz="1200">
                <a:latin typeface="Consolas"/>
              </a:defRPr>
            </a:pPr>
            <a:r>
              <a:rPr dirty="0"/>
              <a:t>time ./</a:t>
            </a:r>
            <a:r>
              <a:rPr dirty="0" err="1"/>
              <a:t>compiler_original</a:t>
            </a:r>
            <a:r>
              <a:rPr dirty="0"/>
              <a:t> &lt; </a:t>
            </a:r>
            <a:r>
              <a:rPr dirty="0" err="1"/>
              <a:t>test_large.c</a:t>
            </a: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time ./</a:t>
            </a:r>
            <a:r>
              <a:rPr dirty="0" err="1"/>
              <a:t>compiler_optimized</a:t>
            </a:r>
            <a:r>
              <a:rPr dirty="0"/>
              <a:t> &lt; </a:t>
            </a:r>
            <a:r>
              <a:rPr dirty="0" err="1"/>
              <a:t>test_large.c</a:t>
            </a:r>
            <a:endParaRPr dirty="0"/>
          </a:p>
          <a:p>
            <a:pPr>
              <a:defRPr sz="1200">
                <a:latin typeface="Consolas"/>
              </a:defRPr>
            </a:pPr>
            <a:endParaRPr dirty="0"/>
          </a:p>
          <a:p>
            <a:pPr>
              <a:defRPr sz="1200">
                <a:latin typeface="Consolas"/>
              </a:defRPr>
            </a:pPr>
            <a:r>
              <a:rPr dirty="0"/>
              <a:t># Expected: 30-50% overall speedup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Platform-Specific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macOS Tools:</a:t>
            </a:r>
            <a:endParaRPr lang="en-US" dirty="0"/>
          </a:p>
          <a:p>
            <a:pPr lvl="1"/>
            <a:r>
              <a:rPr dirty="0"/>
              <a:t>Instruments -t 'Time Profiler' ./compiler</a:t>
            </a:r>
          </a:p>
          <a:p>
            <a:pPr lvl="1"/>
            <a:r>
              <a:rPr lang="en-US" dirty="0"/>
              <a:t>l</a:t>
            </a:r>
            <a:r>
              <a:rPr dirty="0"/>
              <a:t>eaks --</a:t>
            </a:r>
            <a:r>
              <a:rPr dirty="0" err="1"/>
              <a:t>atExit</a:t>
            </a:r>
            <a:r>
              <a:rPr dirty="0"/>
              <a:t> -- ./compiler</a:t>
            </a:r>
          </a:p>
          <a:p>
            <a:pPr lvl="1"/>
            <a:r>
              <a:rPr dirty="0"/>
              <a:t>sample ./compiler -file </a:t>
            </a:r>
            <a:r>
              <a:rPr dirty="0" err="1"/>
              <a:t>test.c</a:t>
            </a:r>
            <a:endParaRPr dirty="0"/>
          </a:p>
          <a:p>
            <a:endParaRPr dirty="0"/>
          </a:p>
          <a:p>
            <a:r>
              <a:rPr dirty="0"/>
              <a:t>Linux Tools:</a:t>
            </a:r>
          </a:p>
          <a:p>
            <a:pPr lvl="1"/>
            <a:r>
              <a:rPr dirty="0"/>
              <a:t>perf record -g ./compiler</a:t>
            </a:r>
          </a:p>
          <a:p>
            <a:pPr lvl="1"/>
            <a:r>
              <a:rPr dirty="0" err="1"/>
              <a:t>valgrind</a:t>
            </a:r>
            <a:r>
              <a:rPr dirty="0"/>
              <a:t> --tool=massif ./compiler</a:t>
            </a:r>
            <a:endParaRPr lang="en-US" dirty="0"/>
          </a:p>
          <a:p>
            <a:pPr lvl="1"/>
            <a:r>
              <a:rPr dirty="0" err="1"/>
              <a:t>gprof</a:t>
            </a:r>
            <a:r>
              <a:rPr dirty="0"/>
              <a:t> ./compiler</a:t>
            </a:r>
          </a:p>
          <a:p>
            <a:endParaRPr dirty="0"/>
          </a:p>
          <a:p>
            <a:r>
              <a:rPr dirty="0"/>
              <a:t>Cross-Platform:</a:t>
            </a:r>
          </a:p>
          <a:p>
            <a:pPr lvl="1"/>
            <a:r>
              <a:rPr dirty="0"/>
              <a:t>Built-in timing with clock()</a:t>
            </a:r>
          </a:p>
          <a:p>
            <a:pPr lvl="1"/>
            <a:r>
              <a:rPr dirty="0"/>
              <a:t>Custom instrumentation</a:t>
            </a:r>
          </a:p>
          <a:p>
            <a:endParaRPr dirty="0"/>
          </a:p>
          <a:p>
            <a:r>
              <a:rPr dirty="0"/>
              <a:t>Tip: Always profile before optimizing!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Performance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b="1" dirty="0"/>
              <a:t>Optimization Results:</a:t>
            </a:r>
          </a:p>
          <a:p>
            <a:endParaRPr dirty="0"/>
          </a:p>
          <a:p>
            <a:r>
              <a:rPr dirty="0"/>
              <a:t>Hash Table Symbol Table:</a:t>
            </a:r>
          </a:p>
          <a:p>
            <a:pPr lvl="1"/>
            <a:r>
              <a:rPr dirty="0"/>
              <a:t>10-100x faster lookups</a:t>
            </a:r>
          </a:p>
          <a:p>
            <a:endParaRPr dirty="0"/>
          </a:p>
          <a:p>
            <a:r>
              <a:rPr dirty="0"/>
              <a:t>AST Memory Pool:</a:t>
            </a:r>
          </a:p>
          <a:p>
            <a:pPr lvl="1"/>
            <a:r>
              <a:rPr dirty="0"/>
              <a:t>30-50% less memory, 2-3x faster allocation</a:t>
            </a:r>
          </a:p>
          <a:p>
            <a:endParaRPr dirty="0"/>
          </a:p>
          <a:p>
            <a:r>
              <a:rPr dirty="0"/>
              <a:t>TAC Optimization:</a:t>
            </a:r>
          </a:p>
          <a:p>
            <a:pPr lvl="1"/>
            <a:r>
              <a:rPr dirty="0"/>
              <a:t>15-25% fewer instructions</a:t>
            </a:r>
          </a:p>
          <a:p>
            <a:endParaRPr dirty="0"/>
          </a:p>
          <a:p>
            <a:r>
              <a:rPr dirty="0"/>
              <a:t>Scanner Buffer:</a:t>
            </a:r>
          </a:p>
          <a:p>
            <a:pPr lvl="1"/>
            <a:r>
              <a:rPr dirty="0"/>
              <a:t>20-30% I/O improvement</a:t>
            </a:r>
          </a:p>
          <a:p>
            <a:endParaRPr dirty="0"/>
          </a:p>
          <a:p>
            <a:r>
              <a:rPr dirty="0"/>
              <a:t>Register Allocation:</a:t>
            </a:r>
          </a:p>
          <a:p>
            <a:pPr lvl="1"/>
            <a:r>
              <a:rPr dirty="0"/>
              <a:t>40-60% faster execution</a:t>
            </a:r>
          </a:p>
          <a:p>
            <a:endParaRPr dirty="0"/>
          </a:p>
          <a:p>
            <a:r>
              <a:rPr dirty="0"/>
              <a:t>String Interning:</a:t>
            </a:r>
          </a:p>
          <a:p>
            <a:pPr lvl="1"/>
            <a:r>
              <a:rPr dirty="0"/>
              <a:t>20-40% memory savings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Implementation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What to Watch Out For:</a:t>
            </a:r>
          </a:p>
          <a:p>
            <a:endParaRPr dirty="0"/>
          </a:p>
          <a:p>
            <a:r>
              <a:rPr dirty="0"/>
              <a:t>Hash Collisions: Poor hash → O(n) worst case</a:t>
            </a:r>
          </a:p>
          <a:p>
            <a:pPr lvl="1"/>
            <a:r>
              <a:rPr dirty="0"/>
              <a:t>Solution: Use prime table sizes</a:t>
            </a:r>
          </a:p>
          <a:p>
            <a:endParaRPr dirty="0"/>
          </a:p>
          <a:p>
            <a:r>
              <a:rPr dirty="0"/>
              <a:t>Memory Pool Fragmentation: Variable sizes</a:t>
            </a:r>
          </a:p>
          <a:p>
            <a:pPr lvl="1"/>
            <a:r>
              <a:rPr dirty="0"/>
              <a:t>Solution: Separate pools for different sizes</a:t>
            </a:r>
          </a:p>
          <a:p>
            <a:endParaRPr dirty="0"/>
          </a:p>
          <a:p>
            <a:r>
              <a:rPr dirty="0"/>
              <a:t>Register Spilling: Too aggressive</a:t>
            </a:r>
          </a:p>
          <a:p>
            <a:pPr lvl="1"/>
            <a:r>
              <a:rPr dirty="0"/>
              <a:t>Solution: Profile-guided allocation</a:t>
            </a:r>
          </a:p>
          <a:p>
            <a:endParaRPr dirty="0"/>
          </a:p>
          <a:p>
            <a:r>
              <a:rPr dirty="0"/>
              <a:t>Over-optimization: Complex code for minimal gain</a:t>
            </a:r>
          </a:p>
          <a:p>
            <a:pPr lvl="1"/>
            <a:r>
              <a:rPr dirty="0"/>
              <a:t>Solution: Focus on hotspots (80/20 rule)</a:t>
            </a:r>
          </a:p>
          <a:p>
            <a:endParaRPr dirty="0"/>
          </a:p>
          <a:p>
            <a:r>
              <a:rPr dirty="0"/>
              <a:t>Platform Dependencies: OS-specific code</a:t>
            </a:r>
          </a:p>
          <a:p>
            <a:pPr lvl="1"/>
            <a:r>
              <a:rPr dirty="0"/>
              <a:t>Solution: Use #ifdef for portability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dirty="0"/>
              <a:t>Industry Applications:</a:t>
            </a:r>
          </a:p>
          <a:p>
            <a:endParaRPr dirty="0"/>
          </a:p>
          <a:p>
            <a:r>
              <a:rPr dirty="0"/>
              <a:t>GCC/LLVM: Use all these techniques</a:t>
            </a:r>
          </a:p>
          <a:p>
            <a:r>
              <a:rPr dirty="0"/>
              <a:t>V8 (JavaScript): Hidden classes = hash tables</a:t>
            </a:r>
          </a:p>
          <a:p>
            <a:r>
              <a:rPr dirty="0"/>
              <a:t>Java </a:t>
            </a:r>
            <a:r>
              <a:rPr dirty="0" err="1"/>
              <a:t>HotSpot</a:t>
            </a:r>
            <a:r>
              <a:rPr dirty="0"/>
              <a:t>: Aggressive register allocation</a:t>
            </a:r>
          </a:p>
          <a:p>
            <a:r>
              <a:rPr dirty="0"/>
              <a:t>Rust: Memory pools for fast compilation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Career Relevance - Performance matters in:</a:t>
            </a:r>
            <a:br>
              <a:rPr lang="en-US" b="1" dirty="0"/>
            </a:br>
            <a:endParaRPr b="1" dirty="0"/>
          </a:p>
          <a:p>
            <a:r>
              <a:rPr dirty="0"/>
              <a:t>Game engines</a:t>
            </a:r>
          </a:p>
          <a:p>
            <a:r>
              <a:rPr dirty="0"/>
              <a:t>Database systems</a:t>
            </a:r>
          </a:p>
          <a:p>
            <a:r>
              <a:rPr dirty="0"/>
              <a:t>Operating systems</a:t>
            </a:r>
          </a:p>
          <a:p>
            <a:r>
              <a:rPr dirty="0"/>
              <a:t>Embedded systems</a:t>
            </a:r>
          </a:p>
          <a:p>
            <a:r>
              <a:rPr dirty="0"/>
              <a:t>High-frequency trading</a:t>
            </a:r>
          </a:p>
          <a:p>
            <a:endParaRPr dirty="0"/>
          </a:p>
          <a:p>
            <a:pPr marL="0" indent="0" algn="ctr">
              <a:buNone/>
            </a:pPr>
            <a:r>
              <a:rPr b="1" dirty="0"/>
              <a:t>These skills transfer directly to industry!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dirty="0"/>
              <a:t>Remember:</a:t>
            </a:r>
          </a:p>
          <a:p>
            <a:endParaRPr dirty="0"/>
          </a:p>
          <a:p>
            <a:r>
              <a:rPr dirty="0"/>
              <a:t>Always measure before optimizing</a:t>
            </a:r>
          </a:p>
          <a:p>
            <a:endParaRPr dirty="0"/>
          </a:p>
          <a:p>
            <a:r>
              <a:rPr dirty="0"/>
              <a:t>Focus on algorithmic improvements first</a:t>
            </a:r>
          </a:p>
          <a:p>
            <a:pPr lvl="1"/>
            <a:r>
              <a:rPr i="1" dirty="0"/>
              <a:t>(O(n) → O(1) beats constant factor improvements)</a:t>
            </a:r>
          </a:p>
          <a:p>
            <a:endParaRPr dirty="0"/>
          </a:p>
          <a:p>
            <a:r>
              <a:rPr dirty="0"/>
              <a:t>Memory locality matters as much as CPU cycles</a:t>
            </a:r>
          </a:p>
          <a:p>
            <a:endParaRPr dirty="0"/>
          </a:p>
          <a:p>
            <a:r>
              <a:rPr dirty="0"/>
              <a:t>Platform differences can be significant</a:t>
            </a:r>
          </a:p>
          <a:p>
            <a:endParaRPr dirty="0"/>
          </a:p>
          <a:p>
            <a:r>
              <a:rPr dirty="0"/>
              <a:t>80% of time is in 20% of code - optimize hotspots</a:t>
            </a:r>
          </a:p>
          <a:p>
            <a:endParaRPr dirty="0"/>
          </a:p>
          <a:p>
            <a:r>
              <a:rPr dirty="0"/>
              <a:t>"Premature optimization is the root of all evil" - Knuth</a:t>
            </a:r>
          </a:p>
          <a:p>
            <a:endParaRPr dirty="0"/>
          </a:p>
          <a:p>
            <a:r>
              <a:rPr dirty="0"/>
              <a:t>But now you know when and how to optimize effectively!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1835</Words>
  <Application>Microsoft Macintosh PowerPoint</Application>
  <PresentationFormat>On-screen Show (4:3)</PresentationFormat>
  <Paragraphs>354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CST-405 Principles of Compiler Design</vt:lpstr>
      <vt:lpstr>Activity Overview</vt:lpstr>
      <vt:lpstr>Why Compiler Performance Matters</vt:lpstr>
      <vt:lpstr>PowerPoint Presentation</vt:lpstr>
      <vt:lpstr>PowerPoint Presentation</vt:lpstr>
      <vt:lpstr>PowerPoint Presentation</vt:lpstr>
      <vt:lpstr>Symbol Table Performance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Platform-Specific Profiling</vt:lpstr>
      <vt:lpstr>Expected Performance Improvements</vt:lpstr>
      <vt:lpstr>Common Implementation Pitfalls</vt:lpstr>
      <vt:lpstr>Real-World Impact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Isac Artzi</cp:lastModifiedBy>
  <cp:revision>9</cp:revision>
  <dcterms:created xsi:type="dcterms:W3CDTF">2013-01-27T09:14:16Z</dcterms:created>
  <dcterms:modified xsi:type="dcterms:W3CDTF">2025-10-01T06:18:00Z</dcterms:modified>
  <cp:category/>
</cp:coreProperties>
</file>